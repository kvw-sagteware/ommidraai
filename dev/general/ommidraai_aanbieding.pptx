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af-Z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af-Z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af-Z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531387-B3E5-4317-82A9-639E4CAECDD3}" type="slidenum">
              <a: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af-Z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D2887E0-EEE1-4FBD-A96A-4E19A9480DE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0A677B1-808A-414F-9906-2194CF24C17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3FE8211-1FFD-4267-937F-02B390976C1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0E58BF5-26A0-4356-85B1-9E72FF4360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C3F2E1B-9755-42DD-A401-2C7B9B175A5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B170358-55EC-43DF-9BC1-B9CD79C0A8E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B1D1E0C-EE0B-40FF-9EED-8598D92FF49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CC68B89-9451-47A8-9BEA-5AB82C9A641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1F6E5A6-54CA-4C50-9A0F-58CC996B457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9F1CE9A-55B7-46A2-A069-0B7084F02DD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5244982-22F7-49D2-ADEA-EFFE61C724F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019E46D-A12F-419B-89C1-9A316927359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7AA4F69-636E-4BFE-BD33-3756AA4E96F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FE40558-03B6-4EC0-AF8B-DA3EF14772E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af-Z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af-ZA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D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1280160" y="-1463040"/>
            <a:ext cx="3840120" cy="3840120"/>
          </a:xfrm>
          <a:prstGeom prst="ellipse">
            <a:avLst/>
          </a:prstGeom>
          <a:solidFill>
            <a:srgbClr val="B6CFC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4480560"/>
            <a:ext cx="4205880" cy="4205880"/>
          </a:xfrm>
          <a:prstGeom prst="ellipse">
            <a:avLst/>
          </a:prstGeom>
          <a:solidFill>
            <a:srgbClr val="A8BE8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1192680" y="1059120"/>
            <a:ext cx="9993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KINDERS VAN DIE WIND </a:t>
            </a:r>
            <a:endParaRPr lang="af-ZA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3"/>
          <p:cNvSpPr/>
          <p:nvPr/>
        </p:nvSpPr>
        <p:spPr>
          <a:xfrm>
            <a:off x="3486240" y="2693880"/>
            <a:ext cx="5219280" cy="15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ZA" sz="9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BIED AAN</a:t>
            </a:r>
            <a:endParaRPr lang="af-ZA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full_logo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6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10424160" y="5212080"/>
            <a:ext cx="2925720" cy="2925720"/>
          </a:xfrm>
          <a:prstGeom prst="ellipse">
            <a:avLst/>
          </a:prstGeom>
          <a:solidFill>
            <a:srgbClr val="B6CFC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11430000" y="6035040"/>
            <a:ext cx="1919880" cy="1919880"/>
          </a:xfrm>
          <a:prstGeom prst="ellipse">
            <a:avLst/>
          </a:prstGeom>
          <a:solidFill>
            <a:srgbClr val="A8BE8F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OORSIG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Fokus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685800" y="1965960"/>
            <a:ext cx="658080" cy="65808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685800" y="196596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af-Z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685800" y="3017520"/>
            <a:ext cx="658080" cy="658080"/>
          </a:xfrm>
          <a:prstGeom prst="ellipse">
            <a:avLst/>
          </a:prstGeom>
          <a:solidFill>
            <a:srgbClr val="5C7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685800" y="301752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af-Z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2"/>
          <p:cNvSpPr/>
          <p:nvPr/>
        </p:nvSpPr>
        <p:spPr>
          <a:xfrm>
            <a:off x="685800" y="4069080"/>
            <a:ext cx="658080" cy="65808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685800" y="4069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af-Z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685800" y="5120640"/>
            <a:ext cx="658080" cy="658080"/>
          </a:xfrm>
          <a:prstGeom prst="ellipse">
            <a:avLst/>
          </a:prstGeom>
          <a:solidFill>
            <a:srgbClr val="5C7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685800" y="512064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af-Z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1600200" y="509328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Deel 2 : DIE TOEKOMS</a:t>
            </a: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1600200" y="5486400"/>
            <a:ext cx="868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Wat die Ommidraai span beplan</a:t>
            </a:r>
            <a:endParaRPr lang="af-Z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1600200" y="194760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Ommidraai se uitleg</a:t>
            </a: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1600200" y="2352960"/>
            <a:ext cx="868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Watter skemas gebruik word</a:t>
            </a:r>
            <a:endParaRPr lang="af-Z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1600200" y="301752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Ommidraai se algoritme</a:t>
            </a: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1600200" y="3456360"/>
            <a:ext cx="868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Die opneem-probleem, stap vir stap deur die graaf.</a:t>
            </a:r>
            <a:endParaRPr lang="af-Z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1600200" y="398664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Hoe Ommidraai se databasis werk</a:t>
            </a: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1600200" y="4443840"/>
            <a:ext cx="868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Hoe die databasis werk in Ommidraai</a:t>
            </a:r>
            <a:endParaRPr lang="af-Z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PROGRAMMERINSKEMAS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Backend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27698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Frontend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548640" y="1431720"/>
            <a:ext cx="1092672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FastAPI (Python)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SQLAlchemy (Python)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OSRM (Routing)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Docker (Database)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548640" y="3547080"/>
            <a:ext cx="10926720" cy="93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Next.js (Typescript)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Tailwind (CSS)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Leaflet (Map)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Docker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48640" y="473832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Database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48640" y="5492880"/>
            <a:ext cx="1092672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Alembic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TOEPASSING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Wat is Ommidraai?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548640" y="1783080"/>
            <a:ext cx="5943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Ommidraai verdeel ‘n groep gebruikers in saamrygroepe. 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Die toepassing moet vinnig die goedkoopste manier vind om hierdie groepe bymekaar te bring.</a:t>
            </a:r>
            <a:endParaRPr lang="af-ZA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48640" y="3520440"/>
            <a:ext cx="5943240" cy="2768040"/>
          </a:xfrm>
          <a:prstGeom prst="roundRect">
            <a:avLst>
              <a:gd name="adj" fmla="val 4348"/>
            </a:avLst>
          </a:prstGeom>
          <a:solidFill>
            <a:srgbClr val="EDEA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868680" y="370332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ONS </a:t>
            </a:r>
            <a:r>
              <a:rPr lang="en-US" sz="11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MODE</a:t>
            </a:r>
            <a:r>
              <a:rPr lang="en-US" sz="11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L DIT </a:t>
            </a:r>
            <a:r>
              <a:rPr lang="en-US" sz="11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AS </a:t>
            </a:r>
            <a:r>
              <a:rPr lang="en-US" sz="11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TWEE </a:t>
            </a:r>
            <a:r>
              <a:rPr lang="en-US" sz="11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GEWE</a:t>
            </a:r>
            <a:r>
              <a:rPr lang="en-US" sz="11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EGDE </a:t>
            </a:r>
            <a:r>
              <a:rPr lang="en-US" sz="11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GRAW</a:t>
            </a:r>
            <a:r>
              <a:rPr lang="en-US" sz="11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E</a:t>
            </a:r>
            <a:endParaRPr lang="af-ZA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868680" y="4218480"/>
            <a:ext cx="5303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41F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Elke bestuurder en  passasier → ’n node (met ‘n “charge”)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41F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Verbindings tussen bestuurders en passasiers → ’n edge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41F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Afstand / koste van die rit → die edge se gewig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0" descr="Driver_purple.png"/>
          <p:cNvPicPr/>
          <p:nvPr/>
        </p:nvPicPr>
        <p:blipFill>
          <a:blip r:embed="rId1"/>
          <a:stretch/>
        </p:blipFill>
        <p:spPr>
          <a:xfrm>
            <a:off x="7940520" y="2377440"/>
            <a:ext cx="918000" cy="155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Image 1" descr="Arrow_teal.png"/>
          <p:cNvPicPr/>
          <p:nvPr/>
        </p:nvPicPr>
        <p:blipFill>
          <a:blip r:embed="rId2"/>
          <a:stretch/>
        </p:blipFill>
        <p:spPr>
          <a:xfrm>
            <a:off x="9398520" y="2981160"/>
            <a:ext cx="393840" cy="36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Image 2" descr="Passenger_green.png"/>
          <p:cNvPicPr/>
          <p:nvPr/>
        </p:nvPicPr>
        <p:blipFill>
          <a:blip r:embed="rId3"/>
          <a:stretch/>
        </p:blipFill>
        <p:spPr>
          <a:xfrm>
            <a:off x="10362600" y="2377440"/>
            <a:ext cx="918000" cy="155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6"/>
          <p:cNvSpPr/>
          <p:nvPr/>
        </p:nvSpPr>
        <p:spPr>
          <a:xfrm>
            <a:off x="7471440" y="416052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3461"/>
                </a:solidFill>
                <a:effectLst/>
                <a:uFillTx/>
                <a:latin typeface="Calibri"/>
                <a:ea typeface="Calibri"/>
              </a:rPr>
              <a:t>Bestuu</a:t>
            </a:r>
            <a:r>
              <a:rPr lang="en-US" sz="1200" b="1" u="none" strike="noStrike">
                <a:solidFill>
                  <a:srgbClr val="3D3461"/>
                </a:solidFill>
                <a:effectLst/>
                <a:uFillTx/>
                <a:latin typeface="Calibri"/>
                <a:ea typeface="Calibri"/>
              </a:rPr>
              <a:t>rder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3461"/>
                </a:solidFill>
                <a:effectLst/>
                <a:uFillTx/>
                <a:latin typeface="Calibri"/>
                <a:ea typeface="Calibri"/>
              </a:rPr>
              <a:t>(kan </a:t>
            </a:r>
            <a:r>
              <a:rPr lang="en-US" sz="1200" b="1" u="none" strike="noStrike">
                <a:solidFill>
                  <a:srgbClr val="3D3461"/>
                </a:solidFill>
                <a:effectLst/>
                <a:uFillTx/>
                <a:latin typeface="Calibri"/>
                <a:ea typeface="Calibri"/>
              </a:rPr>
              <a:t>optel)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9783000" y="4103640"/>
            <a:ext cx="2102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Passasier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(moet opgetel word)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868680" y="509328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VERBIND BESTEMMINGS</a:t>
            </a:r>
            <a:endParaRPr lang="af-Z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868680" y="393624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19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VERBIND GROEPE</a:t>
            </a:r>
            <a:endParaRPr lang="af-ZA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868680" y="5367600"/>
            <a:ext cx="530316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41F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Elke rygroep→ ’n node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41F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Verbindings tussen rygroepe en bestemmings→ ’n edge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41F3D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Afstand / koste van die rit → die edge se gewig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GIDS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Legende vir die diagramme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548640" y="15087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Die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volgen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de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diagra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mme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kom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direk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van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raai se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algorit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me-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ontwer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p.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Hierdie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kleure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en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vorms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bly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dieselfd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regdeur</a:t>
            </a:r>
            <a:r>
              <a:rPr lang="en-US" sz="13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af-Z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548640" y="2286000"/>
            <a:ext cx="5348880" cy="84996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804600" y="2523600"/>
            <a:ext cx="292320" cy="292320"/>
          </a:xfrm>
          <a:prstGeom prst="diamond">
            <a:avLst/>
          </a:prstGeom>
          <a:solidFill>
            <a:srgbClr val="FF6D6D"/>
          </a:solidFill>
          <a:ln w="12700">
            <a:solidFill>
              <a:srgbClr val="6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1243440" y="2450520"/>
            <a:ext cx="4544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6263640" y="2286000"/>
            <a:ext cx="5348880" cy="84996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6519600" y="2523600"/>
            <a:ext cx="292320" cy="292320"/>
          </a:xfrm>
          <a:prstGeom prst="ellipse">
            <a:avLst/>
          </a:prstGeom>
          <a:solidFill>
            <a:srgbClr val="FFFF6D"/>
          </a:solidFill>
          <a:ln w="12700">
            <a:solidFill>
              <a:srgbClr val="B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6958440" y="2450520"/>
            <a:ext cx="4544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Bestemming - Beryk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548640" y="3337560"/>
            <a:ext cx="5348880" cy="84996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804600" y="3575160"/>
            <a:ext cx="292320" cy="292320"/>
          </a:xfrm>
          <a:prstGeom prst="diamond">
            <a:avLst/>
          </a:prstGeom>
          <a:solidFill>
            <a:srgbClr val="729FCF"/>
          </a:solidFill>
          <a:ln w="12700">
            <a:solidFill>
              <a:srgbClr val="001D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1243440" y="3502080"/>
            <a:ext cx="4544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Voorvereiste-node – Groep B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6263640" y="3337560"/>
            <a:ext cx="5348880" cy="84996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6519600" y="3575160"/>
            <a:ext cx="292320" cy="292320"/>
          </a:xfrm>
          <a:prstGeom prst="diamond">
            <a:avLst/>
          </a:prstGeom>
          <a:solidFill>
            <a:srgbClr val="77BC65"/>
          </a:solidFill>
          <a:ln w="12700">
            <a:solidFill>
              <a:srgbClr val="005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6958440" y="3502080"/>
            <a:ext cx="4544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Voorvereiste-node - Groep A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8"/>
          <p:cNvSpPr/>
          <p:nvPr/>
        </p:nvSpPr>
        <p:spPr>
          <a:xfrm>
            <a:off x="6263640" y="4389120"/>
            <a:ext cx="5348880" cy="84996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9"/>
          <p:cNvSpPr/>
          <p:nvPr/>
        </p:nvSpPr>
        <p:spPr>
          <a:xfrm>
            <a:off x="6519600" y="4626720"/>
            <a:ext cx="292320" cy="29232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D34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0"/>
          <p:cNvSpPr/>
          <p:nvPr/>
        </p:nvSpPr>
        <p:spPr>
          <a:xfrm>
            <a:off x="6958440" y="4553640"/>
            <a:ext cx="4544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Oorsprong-nodes - (Nommer is plekke vir passasiers)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1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2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594720" y="4407840"/>
            <a:ext cx="5348880" cy="84996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850680" y="4645440"/>
            <a:ext cx="292320" cy="292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0"/>
          <p:cNvSpPr/>
          <p:nvPr/>
        </p:nvSpPr>
        <p:spPr>
          <a:xfrm>
            <a:off x="1289520" y="4572360"/>
            <a:ext cx="45442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Bestemming – Nie bereik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ALGORITME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Die algoritme, stap vir stap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548640" y="1783080"/>
            <a:ext cx="456840" cy="45684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548640" y="1783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1170360" y="1728360"/>
            <a:ext cx="472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Kry edges tussen users wat kan optel en users wat opgetel moet word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548640" y="2953440"/>
            <a:ext cx="456840" cy="45684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548640" y="2953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1170360" y="2898720"/>
            <a:ext cx="472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Kry die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kortste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edge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548640" y="4123800"/>
            <a:ext cx="456840" cy="45684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548640" y="4123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1170360" y="4069080"/>
            <a:ext cx="472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Verwyder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die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kortste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pad se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oorspron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g se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ander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edges —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los net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die edge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van stap </a:t>
            </a: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548640" y="5294520"/>
            <a:ext cx="456840" cy="45684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548640" y="5294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1170360" y="5239440"/>
            <a:ext cx="472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Verwyder die voorvereiste-node se inkomende edges, behalwe die edge van stap 2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6263640" y="1783080"/>
            <a:ext cx="456840" cy="45684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6263640" y="1783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6885360" y="1728360"/>
            <a:ext cx="472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As die voorvereiste-node nie uitgeput is nie, verbind ander voorvereiste-nodes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7"/>
          <p:cNvSpPr/>
          <p:nvPr/>
        </p:nvSpPr>
        <p:spPr>
          <a:xfrm>
            <a:off x="6263640" y="2953440"/>
            <a:ext cx="456840" cy="45684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8"/>
          <p:cNvSpPr/>
          <p:nvPr/>
        </p:nvSpPr>
        <p:spPr>
          <a:xfrm>
            <a:off x="6263640" y="2953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6885360" y="2898720"/>
            <a:ext cx="472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Volg weer vanaf stap 2, totdat al die voorvereistes bereik is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0"/>
          <p:cNvSpPr/>
          <p:nvPr/>
        </p:nvSpPr>
        <p:spPr>
          <a:xfrm>
            <a:off x="6263640" y="4123800"/>
            <a:ext cx="456840" cy="456840"/>
          </a:xfrm>
          <a:prstGeom prst="ellipse">
            <a:avLst/>
          </a:prstGeom>
          <a:solidFill>
            <a:srgbClr val="4F7A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6263640" y="4123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2"/>
          <p:cNvSpPr/>
          <p:nvPr/>
        </p:nvSpPr>
        <p:spPr>
          <a:xfrm>
            <a:off x="6885360" y="4069080"/>
            <a:ext cx="472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Verbind alle opneemgroepe aan die bestemmingsnode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3"/>
          <p:cNvSpPr/>
          <p:nvPr/>
        </p:nvSpPr>
        <p:spPr>
          <a:xfrm>
            <a:off x="6263640" y="5294520"/>
            <a:ext cx="456840" cy="456840"/>
          </a:xfrm>
          <a:prstGeom prst="ellipse">
            <a:avLst/>
          </a:prstGeom>
          <a:solidFill>
            <a:srgbClr val="4F7A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4"/>
          <p:cNvSpPr/>
          <p:nvPr/>
        </p:nvSpPr>
        <p:spPr>
          <a:xfrm>
            <a:off x="6263640" y="5294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5"/>
          <p:cNvSpPr/>
          <p:nvPr/>
        </p:nvSpPr>
        <p:spPr>
          <a:xfrm>
            <a:off x="6885360" y="5239440"/>
            <a:ext cx="4727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Kry die gerieflikste bestemming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6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7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26"/>
          <p:cNvSpPr/>
          <p:nvPr/>
        </p:nvSpPr>
        <p:spPr>
          <a:xfrm>
            <a:off x="6232680" y="455760"/>
            <a:ext cx="4226400" cy="59432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1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Bou die aanvanklike graaf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48640" y="1508760"/>
            <a:ext cx="39772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’n Node word geskep vir elke gebruiker. Rooi ruite vir passasiers (voorvereiste nodes). Genommerde blokkies vir drywers (oorsprong nodes) — die nommer stel die hoeveelheid passasiers waarvoor hy plek het.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Op hierdie punt is daar nog geen rande nie — net die nodes wag om verbind te word.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25"/>
          <p:cNvPicPr/>
          <p:nvPr/>
        </p:nvPicPr>
        <p:blipFill>
          <a:blip r:embed="rId1"/>
          <a:stretch/>
        </p:blipFill>
        <p:spPr>
          <a:xfrm>
            <a:off x="6625080" y="689040"/>
            <a:ext cx="3342960" cy="553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2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Kry al die rande — dan die kortste een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548640" y="1508760"/>
            <a:ext cx="39772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Elke oorsprong-node word verbind aan al die voorvereiste-nodes wat dit kan bereik.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Die algoritme soek dan, oor die hele graaf, die goedkoopste (kortste) rand — dit word die eerste skakel in ’n nuwe </a:t>
            </a: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optelgroep.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2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3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36"/>
          <p:cNvSpPr/>
          <p:nvPr/>
        </p:nvSpPr>
        <p:spPr>
          <a:xfrm>
            <a:off x="6786720" y="530280"/>
            <a:ext cx="4226400" cy="59432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38"/>
          <p:cNvPicPr/>
          <p:nvPr/>
        </p:nvPicPr>
        <p:blipFill>
          <a:blip r:embed="rId1"/>
          <a:stretch/>
        </p:blipFill>
        <p:spPr>
          <a:xfrm>
            <a:off x="7223760" y="735120"/>
            <a:ext cx="3352320" cy="553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3–4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Verwyder oorbodige rande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48640" y="1508760"/>
            <a:ext cx="39772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Sodra die kortste rand gekies is: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• Die oorsprong se ander rande word verwyder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• Die voorvereiste-node se ander inkomende rande word ook verwyder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Net een skoon skakel bly oor — die res van die graaf word eenvoudiger.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3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27"/>
          <p:cNvSpPr/>
          <p:nvPr/>
        </p:nvSpPr>
        <p:spPr>
          <a:xfrm>
            <a:off x="6232680" y="455760"/>
            <a:ext cx="4226400" cy="59432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Picture 29"/>
          <p:cNvPicPr/>
          <p:nvPr/>
        </p:nvPicPr>
        <p:blipFill>
          <a:blip r:embed="rId1"/>
          <a:stretch/>
        </p:blipFill>
        <p:spPr>
          <a:xfrm>
            <a:off x="6674760" y="748440"/>
            <a:ext cx="3342960" cy="553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5–6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Herhaal tot elke voorvereiste </a:t>
            </a: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bereik is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548640" y="1417320"/>
            <a:ext cx="5410080" cy="47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Stappe 2–4 herhaal: nuwe voorvereiste-nodes word bygevoeg en groepe brei uit, totdat elke gebruiker wat opgetel moet word deel van ’n groep is.</a:t>
            </a:r>
            <a:endParaRPr lang="af-Z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7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08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</a:t>
            </a: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111"/>
          <p:cNvSpPr/>
          <p:nvPr/>
        </p:nvSpPr>
        <p:spPr>
          <a:xfrm>
            <a:off x="7239600" y="550440"/>
            <a:ext cx="4226400" cy="59432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Picture 113"/>
          <p:cNvPicPr/>
          <p:nvPr/>
        </p:nvPicPr>
        <p:blipFill>
          <a:blip r:embed="rId1"/>
          <a:stretch/>
        </p:blipFill>
        <p:spPr>
          <a:xfrm>
            <a:off x="7681320" y="843120"/>
            <a:ext cx="3342960" cy="553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7–8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548640" y="658440"/>
            <a:ext cx="3220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Verbind groepe aan die bestemming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548640" y="1508760"/>
            <a:ext cx="322056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Wanneer al die opneemgroepe volledig is, word hulle almal aan ’n gedeelde bestemmingsnode gekoppel.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Daarna kies die algoritme die gerieflikste bestemming — die node wat die opneemgroepe die beste dien.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5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6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39"/>
          <p:cNvSpPr/>
          <p:nvPr/>
        </p:nvSpPr>
        <p:spPr>
          <a:xfrm>
            <a:off x="3697560" y="482040"/>
            <a:ext cx="3918600" cy="59432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Picture 41"/>
          <p:cNvPicPr/>
          <p:nvPr/>
        </p:nvPicPr>
        <p:blipFill>
          <a:blip r:embed="rId1"/>
          <a:stretch/>
        </p:blipFill>
        <p:spPr>
          <a:xfrm>
            <a:off x="4075560" y="774720"/>
            <a:ext cx="3342960" cy="553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ectangle 43"/>
          <p:cNvSpPr/>
          <p:nvPr/>
        </p:nvSpPr>
        <p:spPr>
          <a:xfrm>
            <a:off x="7994520" y="482040"/>
            <a:ext cx="3867120" cy="59432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45"/>
          <p:cNvPicPr/>
          <p:nvPr/>
        </p:nvPicPr>
        <p:blipFill>
          <a:blip r:embed="rId2"/>
          <a:stretch/>
        </p:blipFill>
        <p:spPr>
          <a:xfrm>
            <a:off x="8256600" y="662040"/>
            <a:ext cx="3342960" cy="553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UITLEG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Databasis Ontwerp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3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4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Picture 37"/>
          <p:cNvPicPr/>
          <p:nvPr/>
        </p:nvPicPr>
        <p:blipFill>
          <a:blip r:embed="rId1"/>
          <a:stretch/>
        </p:blipFill>
        <p:spPr>
          <a:xfrm>
            <a:off x="2232360" y="1675440"/>
            <a:ext cx="7727400" cy="46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Rectangle 38"/>
          <p:cNvSpPr/>
          <p:nvPr/>
        </p:nvSpPr>
        <p:spPr>
          <a:xfrm>
            <a:off x="1395720" y="1592640"/>
            <a:ext cx="8867520" cy="474192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AFSLUI</a:t>
            </a: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TING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48640" y="6584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Samevatting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548640" y="1783080"/>
            <a:ext cx="127800" cy="914040"/>
          </a:xfrm>
          <a:prstGeom prst="roundRect">
            <a:avLst>
              <a:gd name="adj" fmla="val 16667"/>
            </a:avLst>
          </a:prstGeom>
          <a:solidFill>
            <a:srgbClr val="A8BE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868680" y="1755720"/>
            <a:ext cx="10058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Wat is volgende?</a:t>
            </a:r>
            <a:endParaRPr lang="af-Z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868680" y="2148840"/>
            <a:ext cx="10058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</a:rPr>
              <a:t>Vriendskapslys</a:t>
            </a:r>
            <a:endParaRPr lang="af-ZA" sz="1250" b="0" u="none" strike="noStrike">
              <a:solidFill>
                <a:srgbClr val="675F82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</a:rPr>
              <a:t>Kletskamers</a:t>
            </a:r>
            <a:endParaRPr lang="af-ZA" sz="1250" b="0" u="none" strike="noStrike">
              <a:solidFill>
                <a:srgbClr val="675F82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</a:rPr>
              <a:t>Databasis optimaliseringsalgoritmes</a:t>
            </a:r>
            <a:endParaRPr lang="af-ZA" sz="1250" b="0" u="none" strike="noStrike">
              <a:solidFill>
                <a:srgbClr val="675F82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548640" y="2898720"/>
            <a:ext cx="127800" cy="914040"/>
          </a:xfrm>
          <a:prstGeom prst="roundRect">
            <a:avLst>
              <a:gd name="adj" fmla="val 16667"/>
            </a:avLst>
          </a:prstGeom>
          <a:solidFill>
            <a:srgbClr val="A8BE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868680" y="2871360"/>
            <a:ext cx="10058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Die graaf ADT pas natuurlik by Ommidraai</a:t>
            </a:r>
            <a:endParaRPr lang="af-Z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868680" y="32644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Nodes = gebruikers, geweegde edges = moontlike opneem-ritte.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8"/>
          <p:cNvSpPr/>
          <p:nvPr/>
        </p:nvSpPr>
        <p:spPr>
          <a:xfrm>
            <a:off x="548640" y="4014360"/>
            <a:ext cx="127800" cy="914040"/>
          </a:xfrm>
          <a:prstGeom prst="roundRect">
            <a:avLst>
              <a:gd name="adj" fmla="val 16667"/>
            </a:avLst>
          </a:prstGeom>
          <a:solidFill>
            <a:srgbClr val="A8BE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868680" y="3986640"/>
            <a:ext cx="10058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af-Z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868680" y="43801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Oorbo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dige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rande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word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verwy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der, en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die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proses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herha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al tot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elke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gebrui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ker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gedek </a:t>
            </a: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is.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548640" y="5129640"/>
            <a:ext cx="127800" cy="914040"/>
          </a:xfrm>
          <a:prstGeom prst="roundRect">
            <a:avLst>
              <a:gd name="adj" fmla="val 16667"/>
            </a:avLst>
          </a:prstGeom>
          <a:solidFill>
            <a:srgbClr val="A8BE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868680" y="5102280"/>
            <a:ext cx="10058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Groepe word aan die gerieflikste bestemming gekoppel</a:t>
            </a:r>
            <a:endParaRPr lang="af-Z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868680" y="54954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Die finale stap bring elke opneemgroep by ’n gedeelde, goed-geleë bestemming uit.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11475720" y="6473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548640" y="6473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 txBox="1"/>
          <p:nvPr/>
        </p:nvSpPr>
        <p:spPr>
          <a:xfrm>
            <a:off x="442800" y="444600"/>
            <a:ext cx="1843200" cy="27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AANBIEDING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8"/>
          <p:cNvSpPr/>
          <p:nvPr/>
        </p:nvSpPr>
        <p:spPr>
          <a:xfrm>
            <a:off x="5395320" y="2743200"/>
            <a:ext cx="12340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Skakel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9"/>
          <p:cNvSpPr/>
          <p:nvPr/>
        </p:nvSpPr>
        <p:spPr>
          <a:xfrm>
            <a:off x="4434840" y="3429000"/>
            <a:ext cx="33375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http://ommidraai-server.local:3000</a:t>
            </a: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1"/>
          <p:cNvSpPr/>
          <p:nvPr/>
        </p:nvSpPr>
        <p:spPr>
          <a:xfrm>
            <a:off x="549000" y="6474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D3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-1463040" y="4206240"/>
            <a:ext cx="4205880" cy="4205880"/>
          </a:xfrm>
          <a:prstGeom prst="ellipse">
            <a:avLst/>
          </a:prstGeom>
          <a:solidFill>
            <a:srgbClr val="B6CFC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9875520" y="-1645920"/>
            <a:ext cx="3840120" cy="3840120"/>
          </a:xfrm>
          <a:prstGeom prst="ellipse">
            <a:avLst/>
          </a:prstGeom>
          <a:solidFill>
            <a:srgbClr val="A8BE8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0" descr="mark.png"/>
          <p:cNvPicPr/>
          <p:nvPr/>
        </p:nvPicPr>
        <p:blipFill>
          <a:blip r:embed="rId1"/>
          <a:stretch/>
        </p:blipFill>
        <p:spPr>
          <a:xfrm>
            <a:off x="5641920" y="13716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2"/>
          <p:cNvSpPr/>
          <p:nvPr/>
        </p:nvSpPr>
        <p:spPr>
          <a:xfrm>
            <a:off x="1371600" y="2606040"/>
            <a:ext cx="9445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VERKEN SAAM</a:t>
            </a:r>
            <a:endParaRPr lang="af-ZA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1371600" y="3520440"/>
            <a:ext cx="9445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B6CFC6"/>
                </a:solidFill>
                <a:effectLst/>
                <a:uFillTx/>
                <a:latin typeface="Calibri"/>
                <a:ea typeface="Calibri"/>
              </a:rPr>
              <a:t>Vrae?</a:t>
            </a:r>
            <a:endParaRPr lang="af-Z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371600" y="6035040"/>
            <a:ext cx="944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201" strike="noStrike">
                <a:solidFill>
                  <a:srgbClr val="A8BE8F"/>
                </a:solidFill>
                <a:effectLst/>
                <a:uFillTx/>
                <a:latin typeface="Calibri"/>
                <a:ea typeface="Calibri"/>
              </a:rPr>
              <a:t>OMMIDRAAI  —  VERKEN SAAM</a:t>
            </a:r>
            <a:endParaRPr lang="af-ZA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Application>LibreOffice/26.2.4.2$Linux_X86_64 LibreOffice_project/620$Build-2</Application>
  <AppVersion>15.0000</AppVersion>
  <Words>698</Words>
  <Paragraphs>156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2026-08-30T12:38:42Z</dcterms:created>
  <dc:creator>PptxGenJS</dc:creator>
  <dc:description/>
  <dc:language>en-US</dc:language>
  <cp:lastModifiedBy/>
  <dcterms:modified xsi:type="dcterms:W3CDTF">2026-09-02T14:19:06Z</dcterms:modified>
  <cp:revision>43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