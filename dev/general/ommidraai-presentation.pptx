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af-Z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af-Z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AF2FBDE-A12F-4596-A1A0-525CC51480B7}" type="slidenum">
              <a:rPr lang="af-Z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af-Z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360" cy="3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7DE3096-6C7B-4D42-A675-BD0CCE8504B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ACDD9405-AEF9-4782-8508-FB66AD5C342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9F5113E-B875-4841-A890-1B250850230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ED95E90-BA52-49F7-809B-20A73F216D8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22135B10-0D7E-4A66-9F6B-52499C62E94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B370FFA-1BF5-4D25-8D57-E72E3A01445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0B1CEAE-DAA5-4367-81F6-1F78EA0C23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62C411B-7133-4C47-8B0C-235575B0317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C8B5311-A295-4CA7-8A18-BA8E6696E7A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af-ZA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af-Z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af-Z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af-Z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af-Z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full_logo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60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10424160" y="5212080"/>
            <a:ext cx="2924640" cy="2924640"/>
          </a:xfrm>
          <a:prstGeom prst="ellipse">
            <a:avLst/>
          </a:prstGeom>
          <a:solidFill>
            <a:srgbClr val="B6CFC6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11430000" y="6035040"/>
            <a:ext cx="1918800" cy="1918800"/>
          </a:xfrm>
          <a:prstGeom prst="ellipse">
            <a:avLst/>
          </a:prstGeom>
          <a:solidFill>
            <a:srgbClr val="A8BE8F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OORSIG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Fokus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685800" y="1965960"/>
            <a:ext cx="657000" cy="65700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685800" y="1965960"/>
            <a:ext cx="657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685800" y="3017520"/>
            <a:ext cx="657000" cy="657000"/>
          </a:xfrm>
          <a:prstGeom prst="ellipse">
            <a:avLst/>
          </a:prstGeom>
          <a:solidFill>
            <a:srgbClr val="5C7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85800" y="3017520"/>
            <a:ext cx="657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685800" y="4069080"/>
            <a:ext cx="657000" cy="65700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685800" y="4069080"/>
            <a:ext cx="657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6"/>
          <p:cNvSpPr/>
          <p:nvPr/>
        </p:nvSpPr>
        <p:spPr>
          <a:xfrm>
            <a:off x="685800" y="5120640"/>
            <a:ext cx="657000" cy="657000"/>
          </a:xfrm>
          <a:prstGeom prst="ellipse">
            <a:avLst/>
          </a:prstGeom>
          <a:solidFill>
            <a:srgbClr val="5C7A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685800" y="5120640"/>
            <a:ext cx="65700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af-ZA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1600200" y="5093280"/>
            <a:ext cx="5942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 se databasis ontwerp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1600200" y="548640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Hoe die databasis werk in Ommidraai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1600200" y="1947600"/>
            <a:ext cx="5942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Ommidraai?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1600200" y="23529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Wat is ommidraai?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1600200" y="3017520"/>
            <a:ext cx="5942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Frontend, Backend, Database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600200" y="345636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Brei meer uit in die kode.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1600200" y="3986640"/>
            <a:ext cx="5942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Ommidraai se algoritme en die implementering van bome</a:t>
            </a:r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1600200" y="4443840"/>
            <a:ext cx="8685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Stap vir stap deur die graaf.</a:t>
            </a:r>
            <a:endParaRPr lang="af-ZA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af-ZA" sz="4200" b="1" u="none" strike="noStrike">
                <a:solidFill>
                  <a:srgbClr val="241F3D"/>
                </a:solidFill>
                <a:effectLst/>
                <a:uFillTx/>
                <a:latin typeface="Times New Roman"/>
              </a:rPr>
              <a:t>Wat is Ommidraai ?</a:t>
            </a:r>
            <a:br>
              <a:rPr sz="4200"/>
            </a:br>
            <a:r>
              <a:rPr lang="af-ZA" sz="2600" b="0" u="none" strike="noStrike">
                <a:solidFill>
                  <a:srgbClr val="5C7A48"/>
                </a:solidFill>
                <a:effectLst/>
                <a:uFillTx/>
                <a:latin typeface="Times New Roman"/>
              </a:rPr>
              <a:t>Probleem :</a:t>
            </a:r>
            <a:endParaRPr lang="af-ZA" sz="2600" b="1" u="none" strike="noStrike">
              <a:solidFill>
                <a:srgbClr val="241F3D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In vandag se ekonomie elke Rand wat gespaar kan word, moet gepsaar word selfs met brandstof pryse.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0" algn="l">
              <a:buNone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Dit vat baie moeite beplanning om roetes uit te werk om geld te spaar vir elke rut.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0" algn="l"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Individuele veroorsaak frustrasie in gewys waarna toe hul wil gaan, wat nie noodwendig die beste vir die groep gaan wees nie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0" algn="l"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Kommunikasie wanneer dit kom na beplanning van die versameling kan stadig wees en nie altyd gemaklik nie 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0" algn="l"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Duisende Whatsapp groepe vir eenmaal byeenkomste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216000" indent="0" algn="l"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af-ZA" sz="4200" b="1" u="none" strike="noStrike">
                <a:solidFill>
                  <a:srgbClr val="241F3D"/>
                </a:solidFill>
                <a:effectLst/>
                <a:uFillTx/>
                <a:latin typeface="Times New Roman"/>
              </a:rPr>
              <a:t>Wat is Ommidraai ?</a:t>
            </a:r>
            <a:br>
              <a:rPr sz="4200"/>
            </a:br>
            <a:r>
              <a:rPr lang="af-ZA" sz="2600" b="0" u="none" strike="noStrike">
                <a:solidFill>
                  <a:srgbClr val="5C7A48"/>
                </a:solidFill>
                <a:effectLst/>
                <a:uFillTx/>
                <a:latin typeface="Times New Roman"/>
              </a:rPr>
              <a:t>Oplossing :</a:t>
            </a:r>
            <a:endParaRPr lang="af-ZA" sz="2600" b="0" u="none" strike="noStrike">
              <a:solidFill>
                <a:srgbClr val="241F3D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Die algoritme verlig die proses van die proses en die gewig op die bank rekening </a:t>
            </a:r>
            <a:br>
              <a:rPr sz="2000"/>
            </a:b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 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Deur die kortste pad vir elke persoon in ag te neem tydens die beplanning van die roette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Elke persoon gee die ligging waar hul bereid is om te gaan en die algoritme verwerk elke roete en gee die uitgewerkte beste pad vir die groep 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</a:pP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Kommunikasie word vergemaklik met die gebruik vir groep gekoppelde kletsgroepe wat toe laat dat individuele op webtuiste laat kommunikeer tydens beplanning van liggings</a:t>
            </a:r>
            <a:endParaRPr lang="af-ZA" sz="2000" b="0" u="none" strike="noStrike">
              <a:solidFill>
                <a:srgbClr val="241F3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33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4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Eyebrow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TEGNOLOGIEKEUSES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Backend heading"/>
          <p:cNvSpPr/>
          <p:nvPr/>
        </p:nvSpPr>
        <p:spPr>
          <a:xfrm>
            <a:off x="548640" y="777240"/>
            <a:ext cx="566784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Backend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Backend list"/>
          <p:cNvSpPr/>
          <p:nvPr/>
        </p:nvSpPr>
        <p:spPr>
          <a:xfrm>
            <a:off x="548640" y="1463040"/>
            <a:ext cx="5759280" cy="44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DB</a:t>
            </a:r>
            <a:endParaRPr lang="af-Z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Alembic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Database formatting integrity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PostgreSQL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Scalability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SQLAlchemy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Simplify database communication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Python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Current and well known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FastAPI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Current and well known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00"/>
              </a:spcBef>
              <a:tabLst>
                <a:tab pos="0" algn="l"/>
              </a:tabLst>
            </a:pPr>
            <a:r>
              <a:rPr lang="en-US" sz="1700" b="1" u="none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Algorithm</a:t>
            </a:r>
            <a:endParaRPr lang="af-Z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OSRM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Open source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Origin Forest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Specialized algorithm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OpenStreetMap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Configurable / modular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rontend heading"/>
          <p:cNvSpPr/>
          <p:nvPr/>
        </p:nvSpPr>
        <p:spPr>
          <a:xfrm>
            <a:off x="6766560" y="777240"/>
            <a:ext cx="48448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Frontend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rontend list"/>
          <p:cNvSpPr/>
          <p:nvPr/>
        </p:nvSpPr>
        <p:spPr>
          <a:xfrm>
            <a:off x="6766560" y="1197720"/>
            <a:ext cx="4844880" cy="158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Next.js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Parallel async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Leaflet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Geld en tyd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Tailwind</a:t>
            </a:r>
            <a:r>
              <a:rPr lang="en-US" sz="15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 – CSS and theming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Docker card"/>
          <p:cNvSpPr/>
          <p:nvPr/>
        </p:nvSpPr>
        <p:spPr>
          <a:xfrm>
            <a:off x="6542280" y="3291840"/>
            <a:ext cx="4844880" cy="867240"/>
          </a:xfrm>
          <a:prstGeom prst="roundRect">
            <a:avLst>
              <a:gd name="adj" fmla="val 12000"/>
            </a:avLst>
          </a:prstGeom>
          <a:solidFill>
            <a:srgbClr val="EEEB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8600" tIns="0" rIns="22860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Docker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Frontend list"/>
          <p:cNvSpPr/>
          <p:nvPr/>
        </p:nvSpPr>
        <p:spPr>
          <a:xfrm>
            <a:off x="6766560" y="4110120"/>
            <a:ext cx="4844880" cy="13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af-Z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ZA" sz="14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FOSS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ZA" sz="14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Simplification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499"/>
              </a:spcBef>
              <a:buClr>
                <a:srgbClr val="5C7A48"/>
              </a:buClr>
              <a:buFont typeface="Arial"/>
              <a:buChar char="•"/>
              <a:tabLst>
                <a:tab pos="0" algn="l"/>
              </a:tabLst>
            </a:pPr>
            <a:r>
              <a:rPr lang="en-ZA" sz="1400" b="1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Portability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GIDS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Simbole vir die diagram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548640" y="205956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"/>
          <p:cNvSpPr/>
          <p:nvPr/>
        </p:nvSpPr>
        <p:spPr>
          <a:xfrm>
            <a:off x="804600" y="2297160"/>
            <a:ext cx="291240" cy="291240"/>
          </a:xfrm>
          <a:prstGeom prst="diamond">
            <a:avLst/>
          </a:prstGeom>
          <a:solidFill>
            <a:srgbClr val="A20025"/>
          </a:solidFill>
          <a:ln w="12700">
            <a:solidFill>
              <a:srgbClr val="6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243440" y="222408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Voorvereiste-gebruiker — nog nie bereik nie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6263640" y="205956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6519600" y="2297160"/>
            <a:ext cx="291240" cy="291240"/>
          </a:xfrm>
          <a:prstGeom prst="ellipse">
            <a:avLst/>
          </a:prstGeom>
          <a:solidFill>
            <a:srgbClr val="E3C800"/>
          </a:solidFill>
          <a:ln w="12700">
            <a:solidFill>
              <a:srgbClr val="B095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6958440" y="222408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Oorsprong-gebruiker — nog nie opgeneem nie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548640" y="311112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804600" y="3348720"/>
            <a:ext cx="291240" cy="291240"/>
          </a:xfrm>
          <a:prstGeom prst="diamond">
            <a:avLst/>
          </a:prstGeom>
          <a:solidFill>
            <a:srgbClr val="0050EF"/>
          </a:solidFill>
          <a:ln w="12700">
            <a:solidFill>
              <a:srgbClr val="001DB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1243440" y="327564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Oorsprong-node tans ondersoek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6263640" y="311112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3"/>
          <p:cNvSpPr/>
          <p:nvPr/>
        </p:nvSpPr>
        <p:spPr>
          <a:xfrm>
            <a:off x="6519600" y="3348720"/>
            <a:ext cx="291240" cy="291240"/>
          </a:xfrm>
          <a:prstGeom prst="diamond">
            <a:avLst/>
          </a:prstGeom>
          <a:solidFill>
            <a:srgbClr val="008A00"/>
          </a:solidFill>
          <a:ln w="12700">
            <a:solidFill>
              <a:srgbClr val="005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6958440" y="327564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Bevestigde skakel — Groep A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5"/>
          <p:cNvSpPr/>
          <p:nvPr/>
        </p:nvSpPr>
        <p:spPr>
          <a:xfrm>
            <a:off x="548640" y="416268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804600" y="4400280"/>
            <a:ext cx="291240" cy="291240"/>
          </a:xfrm>
          <a:prstGeom prst="diamond">
            <a:avLst/>
          </a:prstGeom>
          <a:solidFill>
            <a:srgbClr val="D80073"/>
          </a:solidFill>
          <a:ln w="12700">
            <a:solidFill>
              <a:srgbClr val="A5004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1243440" y="432720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Bevestigde skakel — Groep B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6263640" y="4162680"/>
            <a:ext cx="5347800" cy="848880"/>
          </a:xfrm>
          <a:prstGeom prst="roundRect">
            <a:avLst>
              <a:gd name="adj" fmla="val 8602"/>
            </a:avLst>
          </a:prstGeom>
          <a:solidFill>
            <a:srgbClr val="FAF9FC"/>
          </a:solidFill>
          <a:ln w="12700">
            <a:solidFill>
              <a:srgbClr val="E4E0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9"/>
          <p:cNvSpPr/>
          <p:nvPr/>
        </p:nvSpPr>
        <p:spPr>
          <a:xfrm>
            <a:off x="6519600" y="4400280"/>
            <a:ext cx="291240" cy="29124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3D34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6958440" y="4327200"/>
            <a:ext cx="454320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Nommer = Kapasiteit van oorsprong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2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ALGORITME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Die algoritme, stap vir stap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548640" y="178308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548640" y="17830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1170360" y="172836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rande tussen gebruikers wat kan optel en gebruikers wat opgetel moet word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5"/>
          <p:cNvSpPr/>
          <p:nvPr/>
        </p:nvSpPr>
        <p:spPr>
          <a:xfrm>
            <a:off x="548640" y="295344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548640" y="295344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1170360" y="289872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die kortste rand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548640" y="412380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548640" y="412380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0"/>
          <p:cNvSpPr/>
          <p:nvPr/>
        </p:nvSpPr>
        <p:spPr>
          <a:xfrm>
            <a:off x="1170360" y="406908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Verwyder die kortste pad se oorsprong se ander rande — los net die rand van stap 2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1"/>
          <p:cNvSpPr/>
          <p:nvPr/>
        </p:nvSpPr>
        <p:spPr>
          <a:xfrm>
            <a:off x="548640" y="529452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548640" y="529452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1170360" y="523944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Verwyder die voorvereiste-node se inkomende rande, behalwe die rand van stap 2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263640" y="178308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6263640" y="178308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6885360" y="172836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As die voorvereiste-node nie uitgeput is nie, verbind ander voorvereiste-node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7"/>
          <p:cNvSpPr/>
          <p:nvPr/>
        </p:nvSpPr>
        <p:spPr>
          <a:xfrm>
            <a:off x="6263640" y="2953440"/>
            <a:ext cx="455760" cy="455760"/>
          </a:xfrm>
          <a:prstGeom prst="ellipse">
            <a:avLst/>
          </a:prstGeom>
          <a:solidFill>
            <a:srgbClr val="3D34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8"/>
          <p:cNvSpPr/>
          <p:nvPr/>
        </p:nvSpPr>
        <p:spPr>
          <a:xfrm>
            <a:off x="6263640" y="295344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6885360" y="289872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Volg weer vanaf stap 2, totdat al die voorvereistes bereik is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0"/>
          <p:cNvSpPr/>
          <p:nvPr/>
        </p:nvSpPr>
        <p:spPr>
          <a:xfrm>
            <a:off x="6263640" y="4123800"/>
            <a:ext cx="455760" cy="455760"/>
          </a:xfrm>
          <a:prstGeom prst="ellipse">
            <a:avLst/>
          </a:prstGeom>
          <a:solidFill>
            <a:srgbClr val="4F7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6263640" y="412380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2"/>
          <p:cNvSpPr/>
          <p:nvPr/>
        </p:nvSpPr>
        <p:spPr>
          <a:xfrm>
            <a:off x="6885360" y="406908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Verbind alle opneemgroepe aan die bestemmingsnode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23"/>
          <p:cNvSpPr/>
          <p:nvPr/>
        </p:nvSpPr>
        <p:spPr>
          <a:xfrm>
            <a:off x="6263640" y="5294520"/>
            <a:ext cx="455760" cy="455760"/>
          </a:xfrm>
          <a:prstGeom prst="ellipse">
            <a:avLst/>
          </a:prstGeom>
          <a:solidFill>
            <a:srgbClr val="4F7A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af-Z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4"/>
          <p:cNvSpPr/>
          <p:nvPr/>
        </p:nvSpPr>
        <p:spPr>
          <a:xfrm>
            <a:off x="6263640" y="5294520"/>
            <a:ext cx="455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5"/>
          <p:cNvSpPr/>
          <p:nvPr/>
        </p:nvSpPr>
        <p:spPr>
          <a:xfrm>
            <a:off x="6885360" y="5239440"/>
            <a:ext cx="47260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Kry die gerieflikste bestemming</a:t>
            </a:r>
            <a:endParaRPr lang="af-ZA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6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7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26"/>
          <p:cNvSpPr/>
          <p:nvPr/>
        </p:nvSpPr>
        <p:spPr>
          <a:xfrm>
            <a:off x="6232680" y="455760"/>
            <a:ext cx="422532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1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Bou die aanvanklike grafiek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548640" y="1508760"/>
            <a:ext cx="397620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’n Node word geskep vir elke gebruiker. Rooi ruite vir passasiers (voorvereiste nodes). Genommerde blokkies vir drywers (oorsprong nodes) — die nommer stel die hoeveelheid passasiers waarvoor hy plek het.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Op hierdie punt is daar nog geen rande nie — net die nodes wag om verbind te word.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25"/>
          <p:cNvPicPr/>
          <p:nvPr/>
        </p:nvPicPr>
        <p:blipFill>
          <a:blip r:embed="rId1"/>
          <a:stretch/>
        </p:blipFill>
        <p:spPr>
          <a:xfrm>
            <a:off x="6625080" y="689040"/>
            <a:ext cx="3341880" cy="55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2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Kry al die rande — dan die kortste een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48640" y="1508760"/>
            <a:ext cx="397620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Elke oorsprong-node word verbind aan al die voorvereiste-nodes wat dit kan bereik.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Die algoritme soek dan, oor die hele grafiek, die goedkoopste (kortste) rand — dit word die eerste skakel in ’n nuwe optelgroep.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2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3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36"/>
          <p:cNvSpPr/>
          <p:nvPr/>
        </p:nvSpPr>
        <p:spPr>
          <a:xfrm>
            <a:off x="6786720" y="530280"/>
            <a:ext cx="422532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38"/>
          <p:cNvPicPr/>
          <p:nvPr/>
        </p:nvPicPr>
        <p:blipFill>
          <a:blip r:embed="rId1"/>
          <a:stretch/>
        </p:blipFill>
        <p:spPr>
          <a:xfrm>
            <a:off x="7223760" y="735120"/>
            <a:ext cx="3351240" cy="55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3–4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Verwyder oorbodige rande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548640" y="1508760"/>
            <a:ext cx="397620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Sodra die kortste rand gekies is: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• Die oorsprong se ander rande word verwyder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• Die voorvereiste-node se ander inkomende rande word ook verwyder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Net een skoon skakel bly oor — die res van die grafiek word eenvoudiger.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7"/>
          <p:cNvSpPr/>
          <p:nvPr/>
        </p:nvSpPr>
        <p:spPr>
          <a:xfrm>
            <a:off x="6232680" y="455760"/>
            <a:ext cx="422532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29"/>
          <p:cNvPicPr/>
          <p:nvPr/>
        </p:nvPicPr>
        <p:blipFill>
          <a:blip r:embed="rId1"/>
          <a:stretch/>
        </p:blipFill>
        <p:spPr>
          <a:xfrm>
            <a:off x="6674760" y="748440"/>
            <a:ext cx="3341880" cy="55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5–6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Herhaal tot elke voorvereiste bereik is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1293840"/>
            <a:ext cx="5409000" cy="187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Stappe 2–4 herhaal: nuwe voorvereiste-nodes word bygevoeg en groepe brei uit, totdat elke gebruiker wat opgetel moet word deel van ’n groep is.</a:t>
            </a:r>
            <a:endParaRPr lang="af-ZA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7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8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11"/>
          <p:cNvSpPr/>
          <p:nvPr/>
        </p:nvSpPr>
        <p:spPr>
          <a:xfrm>
            <a:off x="7239600" y="550440"/>
            <a:ext cx="422532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3" name="Picture 113"/>
          <p:cNvPicPr/>
          <p:nvPr/>
        </p:nvPicPr>
        <p:blipFill>
          <a:blip r:embed="rId1"/>
          <a:stretch/>
        </p:blipFill>
        <p:spPr>
          <a:xfrm>
            <a:off x="7681320" y="843120"/>
            <a:ext cx="3341880" cy="55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STAP 7–8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658440"/>
            <a:ext cx="3219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Verbind groepe aan die bestemming</a:t>
            </a:r>
            <a:endParaRPr lang="af-ZA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548640" y="1508760"/>
            <a:ext cx="3219480" cy="329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Wanneer al die optelgroepe volledig gemaak is, word hulle almal aan gedeelde bestemmingsnodes gekoppel.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1F3D"/>
                </a:solidFill>
                <a:effectLst/>
                <a:uFillTx/>
                <a:latin typeface="Calibri"/>
                <a:ea typeface="Calibri"/>
              </a:rPr>
              <a:t>Daarna kies die algoritme die gerieflikste bestemming — die node wat die opneemgroepe die beste dien.</a:t>
            </a:r>
            <a:endParaRPr lang="af-Z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5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6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39"/>
          <p:cNvSpPr/>
          <p:nvPr/>
        </p:nvSpPr>
        <p:spPr>
          <a:xfrm>
            <a:off x="3697560" y="482040"/>
            <a:ext cx="391752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Picture 41"/>
          <p:cNvPicPr/>
          <p:nvPr/>
        </p:nvPicPr>
        <p:blipFill>
          <a:blip r:embed="rId1"/>
          <a:stretch/>
        </p:blipFill>
        <p:spPr>
          <a:xfrm>
            <a:off x="4075560" y="774720"/>
            <a:ext cx="3341880" cy="55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43"/>
          <p:cNvSpPr/>
          <p:nvPr/>
        </p:nvSpPr>
        <p:spPr>
          <a:xfrm>
            <a:off x="7994520" y="482040"/>
            <a:ext cx="3866040" cy="59421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Picture 45"/>
          <p:cNvPicPr/>
          <p:nvPr/>
        </p:nvPicPr>
        <p:blipFill>
          <a:blip r:embed="rId2"/>
          <a:stretch/>
        </p:blipFill>
        <p:spPr>
          <a:xfrm>
            <a:off x="8256600" y="662040"/>
            <a:ext cx="3341880" cy="553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548640" y="384120"/>
            <a:ext cx="7313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C7A48"/>
                </a:solidFill>
                <a:effectLst/>
                <a:uFillTx/>
                <a:latin typeface="Calibri"/>
                <a:ea typeface="Calibri"/>
              </a:rPr>
              <a:t>UITLEG</a:t>
            </a:r>
            <a:endParaRPr lang="af-Z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548640" y="658440"/>
            <a:ext cx="1060560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3D3461"/>
                </a:solidFill>
                <a:effectLst/>
                <a:uFillTx/>
                <a:latin typeface="Cambria"/>
                <a:ea typeface="Cambria"/>
              </a:rPr>
              <a:t>Databasis Ontwerp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3"/>
          <p:cNvSpPr/>
          <p:nvPr/>
        </p:nvSpPr>
        <p:spPr>
          <a:xfrm>
            <a:off x="11475720" y="6473880"/>
            <a:ext cx="5472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af-Z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4"/>
          <p:cNvSpPr/>
          <p:nvPr/>
        </p:nvSpPr>
        <p:spPr>
          <a:xfrm>
            <a:off x="548640" y="64738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150" strike="noStrike">
                <a:solidFill>
                  <a:srgbClr val="675F82"/>
                </a:solidFill>
                <a:effectLst/>
                <a:uFillTx/>
                <a:latin typeface="Calibri"/>
                <a:ea typeface="Calibri"/>
              </a:rPr>
              <a:t>OMMIDRAAI</a:t>
            </a:r>
            <a:endParaRPr lang="af-ZA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37"/>
          <p:cNvPicPr/>
          <p:nvPr/>
        </p:nvPicPr>
        <p:blipFill>
          <a:blip r:embed="rId1"/>
          <a:stretch/>
        </p:blipFill>
        <p:spPr>
          <a:xfrm>
            <a:off x="1874160" y="1693440"/>
            <a:ext cx="7726320" cy="464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Rectangle 38"/>
          <p:cNvSpPr/>
          <p:nvPr/>
        </p:nvSpPr>
        <p:spPr>
          <a:xfrm>
            <a:off x="1395720" y="1592640"/>
            <a:ext cx="8866440" cy="474084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Z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457200" y="457200"/>
            <a:ext cx="102862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af-ZA" sz="3000" b="1" u="none" strike="noStrike">
                <a:solidFill>
                  <a:srgbClr val="3D3461"/>
                </a:solidFill>
                <a:effectLst/>
                <a:uFillTx/>
                <a:latin typeface="Times New Roman"/>
              </a:rPr>
              <a:t>Agtergrond van die logo ek die rol wat die kleure speel:</a:t>
            </a:r>
            <a:endParaRPr lang="af-ZA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457200" y="1371600"/>
            <a:ext cx="10514880" cy="36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af-ZA" sz="17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LOGO:</a:t>
            </a:r>
            <a:endParaRPr lang="af-ZA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Beklemtoon die feit dat Ommidraai mense bymekaar bring waar ook al jy huidig is en verseker jou dat iemand net om die draai van jou is.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7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KLEURE:</a:t>
            </a: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 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Groen, blou, ligte blou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7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GEVOEL:</a:t>
            </a: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 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Laat die gebruiker tuis en deel van die gemeenskap voel.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7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ROL:</a:t>
            </a: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 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Blou laat jou verstellings verander.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Groen laat jou aksies uitvoer.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af-ZA" sz="1500" b="1" u="none" strike="noStrike">
                <a:solidFill>
                  <a:srgbClr val="3D3461"/>
                </a:solidFill>
                <a:effectLst/>
                <a:uFillTx/>
                <a:latin typeface="Arial"/>
              </a:rPr>
              <a:t>Ligte blou word in die agtergrond geïmplementeer</a:t>
            </a: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af-ZA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af-ZA" sz="4200" b="1" u="none" strike="noStrike">
                <a:solidFill>
                  <a:srgbClr val="241F3D"/>
                </a:solidFill>
                <a:effectLst/>
                <a:uFillTx/>
                <a:latin typeface="Times New Roman"/>
              </a:rPr>
              <a:t>Algoritmes</a:t>
            </a:r>
            <a:endParaRPr lang="af-ZA" sz="4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699720"/>
          </a:xfrm>
          <a:prstGeom prst="rect">
            <a:avLst/>
          </a:prstGeom>
          <a:solidFill>
            <a:srgbClr val="241F3D">
              <a:alpha val="10000"/>
            </a:srgbClr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0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1: Rooi Swart Boom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0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2: Edmond-Karp Algoritme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0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3: Sortering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Borrel Sorteer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Seleksie Sorteer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Emmer Sorteer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Radix Sorteer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Hoop Sorteer</a:t>
            </a:r>
            <a:endParaRPr lang="af-ZA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240"/>
            <a:ext cx="10972080" cy="114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af-ZA" sz="4200" b="1" u="none" strike="noStrike">
                <a:solidFill>
                  <a:srgbClr val="241F3D"/>
                </a:solidFill>
                <a:effectLst/>
                <a:uFillTx/>
                <a:latin typeface="Times New Roman"/>
              </a:rPr>
              <a:t>Lewendige Demonstrasies</a:t>
            </a:r>
            <a:endParaRPr lang="af-ZA" sz="4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  <a:solidFill>
            <a:srgbClr val="241F3D">
              <a:alpha val="1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Inteken Besonderhede: Piet Pretorius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31"/>
              </a:spcBef>
              <a:buNone/>
              <a:tabLst>
                <a:tab pos="0" algn="l"/>
              </a:tabLst>
            </a:pPr>
            <a:r>
              <a:rPr lang="af-ZA" sz="14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Gebruikersnaam:</a:t>
            </a:r>
            <a:r>
              <a:rPr lang="af-ZA" sz="14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 Dr. Piet</a:t>
            </a:r>
            <a:endParaRPr lang="af-ZA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31"/>
              </a:spcBef>
              <a:buNone/>
              <a:tabLst>
                <a:tab pos="0" algn="l"/>
              </a:tabLst>
            </a:pPr>
            <a:r>
              <a:rPr lang="af-ZA" sz="14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Wagwoord: </a:t>
            </a:r>
            <a:r>
              <a:rPr lang="af-ZA" sz="14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password</a:t>
            </a:r>
            <a:endParaRPr lang="af-ZA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solidFill>
            <a:srgbClr val="241F3D">
              <a:alpha val="1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8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URL Instruksies</a:t>
            </a:r>
            <a:endParaRPr lang="af-ZA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1. </a:t>
            </a:r>
            <a:r>
              <a:rPr lang="af-ZA" sz="20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Konnekteer:</a:t>
            </a: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 ‘Kampus’ Wi-Fi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2. </a:t>
            </a:r>
            <a:r>
              <a:rPr lang="af-ZA" sz="20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Besoek:</a:t>
            </a:r>
            <a:r>
              <a:rPr lang="af-ZA" sz="20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 </a:t>
            </a:r>
            <a:r>
              <a:rPr lang="af-ZA" sz="2000" b="0" u="sng" strike="noStrike">
                <a:solidFill>
                  <a:srgbClr val="241F3D"/>
                </a:solidFill>
                <a:effectLst/>
                <a:uFillTx/>
                <a:latin typeface="Arial"/>
              </a:rPr>
              <a:t>http://ommidraai-server.local:3000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144000"/>
              </a:spcBef>
              <a:buNone/>
              <a:tabLst>
                <a:tab pos="0" algn="l"/>
              </a:tabLst>
            </a:pPr>
            <a:endParaRPr lang="af-ZA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  <a:solidFill>
            <a:srgbClr val="241F3D">
              <a:alpha val="10000"/>
            </a:srgbClr>
          </a:solidFill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af-ZA" sz="2000" b="1" u="none" strike="noStrike">
                <a:solidFill>
                  <a:srgbClr val="5C7A48"/>
                </a:solidFill>
                <a:effectLst/>
                <a:uFillTx/>
                <a:latin typeface="Arial"/>
              </a:rPr>
              <a:t>Inteken Besonderhede: Tina van Niekerk</a:t>
            </a:r>
            <a:endParaRPr lang="af-ZA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31"/>
              </a:spcBef>
              <a:buNone/>
              <a:tabLst>
                <a:tab pos="0" algn="l"/>
              </a:tabLst>
            </a:pPr>
            <a:r>
              <a:rPr lang="af-ZA" sz="14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Gebruikersnaam:</a:t>
            </a:r>
            <a:r>
              <a:rPr lang="af-ZA" sz="14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 Mev. Tina</a:t>
            </a:r>
            <a:endParaRPr lang="af-ZA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Bef>
                <a:spcPts val="431"/>
              </a:spcBef>
              <a:buNone/>
              <a:tabLst>
                <a:tab pos="0" algn="l"/>
              </a:tabLst>
            </a:pPr>
            <a:r>
              <a:rPr lang="af-ZA" sz="1400" b="1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Wagwoord: </a:t>
            </a:r>
            <a:r>
              <a:rPr lang="af-ZA" sz="1400" b="0" u="none" strike="noStrike">
                <a:solidFill>
                  <a:srgbClr val="241F3D"/>
                </a:solidFill>
                <a:effectLst/>
                <a:uFillTx/>
                <a:latin typeface="Arial"/>
              </a:rPr>
              <a:t>password</a:t>
            </a:r>
            <a:endParaRPr lang="af-ZA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4338</TotalTime>
  <Application>LibreOffice/26.2.6.3$Linux_X86_64 LibreOffice_project/620$Build-3</Application>
  <AppVersion>15.0000</AppVersion>
  <Words>661</Words>
  <Paragraphs>145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2026-08-30T12:38:42Z</dcterms:created>
  <dc:creator>PptxGenJS</dc:creator>
  <dc:description/>
  <dc:language>en-US</dc:language>
  <cp:lastModifiedBy/>
  <dcterms:modified xsi:type="dcterms:W3CDTF">2026-10-12T14:15:58Z</dcterms:modified>
  <cp:revision>111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11</vt:i4>
  </property>
  <property fmtid="{D5CDD505-2E9C-101B-9397-08002B2CF9AE}" pid="4" name="PresentationFormat">
    <vt:lpwstr>Widescreen</vt:lpwstr>
  </property>
  <property fmtid="{D5CDD505-2E9C-101B-9397-08002B2CF9AE}" pid="5" name="Slides">
    <vt:i4>13</vt:i4>
  </property>
</Properties>
</file>